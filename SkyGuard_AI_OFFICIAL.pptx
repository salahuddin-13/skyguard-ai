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200" b="1">
                <a:latin typeface="Calibri"/>
              </a:defRPr>
            </a:pPr>
            <a:r>
              <a:t>Problem Statement ID - SIH26073</a:t>
            </a:r>
            <a:endParaRPr lang="en-US" dirty="0"/>
          </a:p>
          <a:p>
            <a:pPr>
              <a:defRPr sz="1000" b="0">
                <a:latin typeface="Calibri"/>
              </a:defRPr>
            </a:pPr>
          </a:p>
          <a:p>
            <a:pPr>
              <a:defRPr sz="2000" b="1">
                <a:latin typeface="Calibri"/>
              </a:defRPr>
            </a:pPr>
            <a:r>
              <a:t>Problem Statement Title - Intelligent Real-Time Anomaly</a:t>
            </a:r>
          </a:p>
          <a:p>
            <a:pPr>
              <a:defRPr sz="2000" b="1">
                <a:latin typeface="Calibri"/>
              </a:defRPr>
            </a:pPr>
            <a:r>
              <a:t>Detection for AWS (SkyGuard AI)</a:t>
            </a:r>
          </a:p>
          <a:p>
            <a:pPr>
              <a:defRPr sz="1000" b="0">
                <a:latin typeface="Calibri"/>
              </a:defRPr>
            </a:pPr>
          </a:p>
          <a:p>
            <a:pPr>
              <a:defRPr sz="2000" b="0">
                <a:latin typeface="Calibri"/>
              </a:defRPr>
            </a:pPr>
            <a:r>
              <a:t>Theme - Disaster Management</a:t>
            </a:r>
          </a:p>
          <a:p>
            <a:pPr>
              <a:defRPr sz="1000" b="0">
                <a:latin typeface="Calibri"/>
              </a:defRPr>
            </a:pPr>
          </a:p>
          <a:p>
            <a:pPr>
              <a:defRPr sz="2000" b="0">
                <a:latin typeface="Calibri"/>
              </a:defRPr>
            </a:pPr>
            <a:r>
              <a:t>PS Category - Software</a:t>
            </a:r>
          </a:p>
          <a:p>
            <a:pPr>
              <a:defRPr sz="1000" b="0">
                <a:latin typeface="Calibri"/>
              </a:defRPr>
            </a:pPr>
          </a:p>
          <a:p>
            <a:pPr>
              <a:defRPr sz="2000" b="0">
                <a:latin typeface="Calibri"/>
              </a:defRPr>
            </a:pPr>
            <a:r>
              <a:t>Team ID - [Your Team ID]</a:t>
            </a:r>
          </a:p>
          <a:p>
            <a:pPr>
              <a:defRPr sz="1000" b="0">
                <a:latin typeface="Calibri"/>
              </a:defRPr>
            </a:pPr>
          </a:p>
          <a:p>
            <a:pPr>
              <a:defRPr sz="2000" b="0">
                <a:latin typeface="Calibri"/>
              </a:defRPr>
            </a:pPr>
            <a:r>
              <a:t>Team Name - [Your 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3600" b="1">
                <a:latin typeface="Calibri"/>
              </a:defRPr>
            </a:pPr>
            <a:r>
              <a:t>SKYGUARD AI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sz="2400" b="1">
                <a:latin typeface="Calibri"/>
              </a:defRPr>
            </a:pPr>
            <a:r>
              <a:t>3-Layer AI Anomaly Detection for Weather Stations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defRPr sz="1000" b="0">
                <a:latin typeface="Calibri"/>
              </a:defRPr>
            </a:pPr>
          </a:p>
          <a:p>
            <a:pPr>
              <a:defRPr sz="2000" b="1">
                <a:latin typeface="Calibri"/>
              </a:defRPr>
            </a:pPr>
            <a:r>
              <a:t>Proposed Solution:</a:t>
            </a:r>
          </a:p>
          <a:p>
            <a:pPr>
              <a:defRPr sz="1800" b="0">
                <a:latin typeface="Calibri"/>
              </a:defRPr>
            </a:pPr>
            <a:r>
              <a:t>SkyGuard AI monitors AWS sensor data (temperature, pressure, humidity)</a:t>
            </a:r>
          </a:p>
          <a:p>
            <a:pPr>
              <a:defRPr sz="1800" b="0">
                <a:latin typeface="Calibri"/>
              </a:defRPr>
            </a:pPr>
            <a:r>
              <a:t>in real-time and detects sensor faults using a 3-layer hybrid approach:</a:t>
            </a:r>
          </a:p>
          <a:p>
            <a:pPr>
              <a:defRPr sz="800" b="0">
                <a:latin typeface="Calibri"/>
              </a:defRPr>
            </a:pPr>
          </a:p>
          <a:p>
            <a:pPr>
              <a:defRPr sz="1800" b="0">
                <a:latin typeface="Calibri"/>
              </a:defRPr>
            </a:pPr>
            <a:r>
              <a:t>Layer 1: WMO Rule Engine - catches range violations, spikes, frozen values (&lt;1ms)</a:t>
            </a:r>
          </a:p>
          <a:p>
            <a:pPr>
              <a:defRPr sz="1800" b="0">
                <a:latin typeface="Calibri"/>
              </a:defRPr>
            </a:pPr>
            <a:r>
              <a:t>Layer 2: LSTM Autoencoder - deep learning on temporal patterns, catches drift (~10ms)</a:t>
            </a:r>
          </a:p>
          <a:p>
            <a:pPr>
              <a:defRPr sz="1800" b="0">
                <a:latin typeface="Calibri"/>
              </a:defRPr>
            </a:pPr>
            <a:r>
              <a:t>Layer 3: Physics Validator - Magnus dew-point formula, prevents false positives (&lt;1ms)</a:t>
            </a:r>
          </a:p>
          <a:p>
            <a:pPr>
              <a:defRPr sz="800" b="0">
                <a:latin typeface="Calibri"/>
              </a:defRPr>
            </a:pPr>
          </a:p>
          <a:p>
            <a:pPr>
              <a:defRPr sz="2000" b="1">
                <a:latin typeface="Calibri"/>
              </a:defRPr>
            </a:pPr>
            <a:r>
              <a:t>Innovation &amp; Uniqueness:</a:t>
            </a:r>
          </a:p>
          <a:p>
            <a:pPr>
              <a:defRPr sz="1800" b="0">
                <a:latin typeface="Calibri"/>
              </a:defRPr>
            </a:pPr>
            <a:r>
              <a:t>No single layer catches everything. The 3-layer hybrid achieves 99.5% accuracy</a:t>
            </a:r>
          </a:p>
          <a:p>
            <a:pPr>
              <a:defRPr sz="1800" b="0">
                <a:latin typeface="Calibri"/>
              </a:defRPr>
            </a:pPr>
            <a:r>
              <a:t>with 0% false positives. Explainable AI tells operators WHICH sensor failed and WHY.</a:t>
            </a:r>
          </a:p>
          <a:p>
            <a:pPr>
              <a:defRPr sz="1800" b="0">
                <a:latin typeface="Calibri"/>
              </a:defRPr>
            </a:pPr>
            <a:r>
              <a:t>Live hardware demo: ESP32 + BMP280 + DHT22 with real-time fault injection.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sz="2200" b="1">
                <a:latin typeface="Calibri"/>
              </a:defRPr>
            </a:pPr>
            <a:r>
              <a:t>Technologies Used:</a:t>
            </a:r>
          </a:p>
          <a:p>
            <a:pPr>
              <a:defRPr sz="1700" b="0">
                <a:latin typeface="Calibri"/>
              </a:defRPr>
            </a:pPr>
            <a:r>
              <a:t>  Hardware: ESP32 DevKit + BMP280 (pressure/temp) + DHT22 (humidity/temp)</a:t>
            </a:r>
          </a:p>
          <a:p>
            <a:pPr>
              <a:defRPr sz="1700" b="0">
                <a:latin typeface="Calibri"/>
              </a:defRPr>
            </a:pPr>
            <a:r>
              <a:t>  Protocol: MQTT (Mosquitto broker) with QoS 1 and Last Will Testament</a:t>
            </a:r>
          </a:p>
          <a:p>
            <a:pPr>
              <a:defRPr sz="1700" b="0">
                <a:latin typeface="Calibri"/>
              </a:defRPr>
            </a:pPr>
            <a:r>
              <a:t>  Backend: Python 3.12 + FastAPI + WebSocket for real-time streaming</a:t>
            </a:r>
          </a:p>
          <a:p>
            <a:pPr>
              <a:defRPr sz="1700" b="0">
                <a:latin typeface="Calibri"/>
              </a:defRPr>
            </a:pPr>
            <a:r>
              <a:t>  ML Framework: PyTorch (LSTM Autoencoder, 57,196 parameters)</a:t>
            </a:r>
          </a:p>
          <a:p>
            <a:pPr>
              <a:defRPr sz="1700" b="0">
                <a:latin typeface="Calibri"/>
              </a:defRPr>
            </a:pPr>
            <a:r>
              <a:t>  Classical ML: scikit-learn Isolation Forest (200 trees, fast pre-filter)</a:t>
            </a:r>
          </a:p>
          <a:p>
            <a:pPr>
              <a:defRPr sz="1700" b="0">
                <a:latin typeface="Calibri"/>
              </a:defRPr>
            </a:pPr>
            <a:r>
              <a:t>  Frontend: Streamlit real-time dashboard with fault injection controls</a:t>
            </a:r>
          </a:p>
          <a:p>
            <a:pPr>
              <a:defRPr sz="1700" b="0">
                <a:latin typeface="Calibri"/>
              </a:defRPr>
            </a:pPr>
            <a:r>
              <a:t>  Dataset: Jena Climate (Max Planck, 420,551 readings, 2009-2016)</a:t>
            </a:r>
          </a:p>
          <a:p>
            <a:pPr>
              <a:defRPr sz="800" b="0">
                <a:latin typeface="Calibri"/>
              </a:defRPr>
            </a:pPr>
          </a:p>
          <a:p>
            <a:pPr>
              <a:defRPr sz="1700" b="1">
                <a:latin typeface="Calibri"/>
              </a:defRPr>
            </a:pPr>
            <a:r>
              <a:t>Architecture: ESP32 --&gt; MQTT --&gt; FastAPI (Rule Engine + LSTM-AE + Physics) --&gt; Dashboard</a:t>
            </a:r>
          </a:p>
          <a:p>
            <a:pPr>
              <a:defRPr sz="800" b="0">
                <a:latin typeface="Calibri"/>
              </a:defRPr>
            </a:pPr>
          </a:p>
          <a:p>
            <a:pPr>
              <a:defRPr sz="1600" b="0">
                <a:latin typeface="Calibri"/>
              </a:defRPr>
            </a:pPr>
            <a:r>
              <a:t>LSTM Autoencoder: Input(60x3) &gt; Encoder LSTM(3&gt;64&gt;32) &gt; Bottleneck(16) &gt; Decoder LSTM(32&gt;64&gt;3)</a:t>
            </a:r>
          </a:p>
          <a:p>
            <a:pPr>
              <a:defRPr sz="1600" b="0">
                <a:latin typeface="Calibri"/>
              </a:defRPr>
            </a:pPr>
            <a:r>
              <a:t>Trained 50 epochs on 50K samples | Val Loss: 0.069 | Spike: 97% | Drift: 100% | F1: 0.99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latin typeface="Calibri"/>
              </a:defRPr>
            </a:pPr>
            <a:r>
              <a:t>Feasibility - Already Built &amp; Tested:</a:t>
            </a:r>
          </a:p>
          <a:p>
            <a:pPr>
              <a:defRPr sz="1700" b="0">
                <a:latin typeface="Calibri"/>
              </a:defRPr>
            </a:pPr>
            <a:r>
              <a:t>  [DONE] LSTM Autoencoder trained on real weather data (99.5% accuracy)</a:t>
            </a:r>
          </a:p>
          <a:p>
            <a:pPr>
              <a:defRPr sz="1700" b="0">
                <a:latin typeface="Calibri"/>
              </a:defRPr>
            </a:pPr>
            <a:r>
              <a:t>  [DONE] Isolation Forest for fast pre-filtering (200 trees, &lt;1ms)</a:t>
            </a:r>
          </a:p>
          <a:p>
            <a:pPr>
              <a:defRPr sz="1700" b="0">
                <a:latin typeface="Calibri"/>
              </a:defRPr>
            </a:pPr>
            <a:r>
              <a:t>  [DONE] Full pipeline simulation working end-to-end</a:t>
            </a:r>
          </a:p>
          <a:p>
            <a:pPr>
              <a:defRPr sz="1700" b="0">
                <a:latin typeface="Calibri"/>
              </a:defRPr>
            </a:pPr>
            <a:r>
              <a:t>  [DONE] Streamlit dashboard with live fault injection demo</a:t>
            </a:r>
          </a:p>
          <a:p>
            <a:pPr>
              <a:defRPr sz="1700" b="0">
                <a:latin typeface="Calibri"/>
              </a:defRPr>
            </a:pPr>
            <a:r>
              <a:t>  [WIP] ESP32 hardware integration (components ordered, Rs.582 total)</a:t>
            </a:r>
          </a:p>
          <a:p>
            <a:pPr>
              <a:defRPr sz="800" b="0">
                <a:latin typeface="Calibri"/>
              </a:defRPr>
            </a:pPr>
          </a:p>
          <a:p>
            <a:pPr>
              <a:defRPr sz="2200" b="1">
                <a:latin typeface="Calibri"/>
              </a:defRPr>
            </a:pPr>
            <a:r>
              <a:t>Challenges &amp; Mitigations:</a:t>
            </a:r>
          </a:p>
          <a:p>
            <a:pPr>
              <a:defRPr sz="1700" b="0">
                <a:latin typeface="Calibri"/>
              </a:defRPr>
            </a:pPr>
            <a:r>
              <a:t>  Challenge: Frozen values not caught by LSTM (learned as 'normal')</a:t>
            </a:r>
          </a:p>
          <a:p>
            <a:pPr>
              <a:defRPr sz="1700" b="0">
                <a:latin typeface="Calibri"/>
              </a:defRPr>
            </a:pPr>
            <a:r>
              <a:t>  Solution: Layer 1 Rule Engine catches frozen values via persistence check</a:t>
            </a:r>
          </a:p>
          <a:p>
            <a:pPr>
              <a:defRPr sz="1700" b="0">
                <a:latin typeface="Calibri"/>
              </a:defRPr>
            </a:pPr>
            <a:r>
              <a:t>  Challenge: False positives during real extreme weather events</a:t>
            </a:r>
          </a:p>
          <a:p>
            <a:pPr>
              <a:defRPr sz="1700" b="0">
                <a:latin typeface="Calibri"/>
              </a:defRPr>
            </a:pPr>
            <a:r>
              <a:t>  Solution: Layer 3 Physics Validator checks multivariate consistency</a:t>
            </a:r>
          </a:p>
          <a:p>
            <a:pPr>
              <a:defRPr sz="1700" b="0">
                <a:latin typeface="Calibri"/>
              </a:defRPr>
            </a:pPr>
            <a:r>
              <a:t>  Challenge: Scalability to 1000+ stations</a:t>
            </a:r>
          </a:p>
          <a:p>
            <a:pPr>
              <a:defRPr sz="1700" b="0">
                <a:latin typeface="Calibri"/>
              </a:defRPr>
            </a:pPr>
            <a:r>
              <a:t>  Solution: MQTT topic hierarchy + stateless microservice backend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200" b="1">
                <a:latin typeface="Calibri"/>
              </a:defRPr>
            </a:pPr>
            <a:r>
              <a:t>Impact on Target Audience:</a:t>
            </a:r>
          </a:p>
          <a:p>
            <a:pPr>
              <a:defRPr sz="1800" b="0">
                <a:latin typeface="Calibri"/>
              </a:defRPr>
            </a:pPr>
            <a:r>
              <a:t>  1000+ AWS stations across India benefit from automated quality control</a:t>
            </a:r>
          </a:p>
          <a:p>
            <a:pPr>
              <a:defRPr sz="1800" b="0">
                <a:latin typeface="Calibri"/>
              </a:defRPr>
            </a:pPr>
            <a:r>
              <a:t>  IMD meteorologists get clean data for weather forecasting</a:t>
            </a:r>
          </a:p>
          <a:p>
            <a:pPr>
              <a:defRPr sz="1800" b="0">
                <a:latin typeface="Calibri"/>
              </a:defRPr>
            </a:pPr>
            <a:r>
              <a:t>  Disaster management agencies get reliable early warnings</a:t>
            </a:r>
          </a:p>
          <a:p>
            <a:pPr>
              <a:defRPr sz="1800" b="0">
                <a:latin typeface="Calibri"/>
              </a:defRPr>
            </a:pPr>
            <a:r>
              <a:t>  Farmers get accurate agricultural advisories</a:t>
            </a:r>
          </a:p>
          <a:p>
            <a:pPr>
              <a:defRPr sz="1800" b="0">
                <a:latin typeface="Calibri"/>
              </a:defRPr>
            </a:pPr>
            <a:r>
              <a:t>  Aviation gets trustworthy METAR/TAF observations</a:t>
            </a:r>
          </a:p>
          <a:p>
            <a:pPr>
              <a:defRPr sz="800" b="0">
                <a:latin typeface="Calibri"/>
              </a:defRPr>
            </a:pPr>
          </a:p>
          <a:p>
            <a:pPr>
              <a:defRPr sz="2200" b="1">
                <a:latin typeface="Calibri"/>
              </a:defRPr>
            </a:pPr>
            <a:r>
              <a:t>Benefits:</a:t>
            </a:r>
          </a:p>
          <a:p>
            <a:pPr>
              <a:defRPr sz="1800" b="0">
                <a:latin typeface="Calibri"/>
              </a:defRPr>
            </a:pPr>
            <a:r>
              <a:t>  Social: Prevents missed disaster warnings, saves lives during cyclones/floods</a:t>
            </a:r>
          </a:p>
          <a:p>
            <a:pPr>
              <a:defRPr sz="1800" b="0">
                <a:latin typeface="Calibri"/>
              </a:defRPr>
            </a:pPr>
            <a:r>
              <a:t>  Economic: Avoids Rs.1000 Cr+ annual cost of inaccurate forecasts</a:t>
            </a:r>
          </a:p>
          <a:p>
            <a:pPr>
              <a:defRPr sz="1800" b="0">
                <a:latin typeface="Calibri"/>
              </a:defRPr>
            </a:pPr>
            <a:r>
              <a:t>  Environmental: Better climate monitoring with trusted sensor data</a:t>
            </a:r>
          </a:p>
          <a:p>
            <a:pPr>
              <a:defRPr sz="1800" b="0">
                <a:latin typeface="Calibri"/>
              </a:defRPr>
            </a:pPr>
            <a:r>
              <a:t>  Technical: Self-aware stations predict own sensor degradation</a:t>
            </a:r>
          </a:p>
          <a:p>
            <a:pPr>
              <a:defRPr sz="800" b="0">
                <a:latin typeface="Calibri"/>
              </a:defRPr>
            </a:pPr>
          </a:p>
          <a:p>
            <a:pPr>
              <a:defRPr sz="1800" b="1">
                <a:latin typeface="Calibri"/>
              </a:defRPr>
            </a:pPr>
            <a:r>
              <a:t>Grand Challenge Answer: Yes, AI can build a self-aware, self-healing weather network.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latin typeface="Calibri"/>
              </a:defRPr>
            </a:pPr>
            <a:r>
              <a:t>Research References:</a:t>
            </a:r>
          </a:p>
          <a:p>
            <a:pPr>
              <a:defRPr sz="600" b="0">
                <a:latin typeface="Calibri"/>
              </a:defRPr>
            </a:pPr>
          </a:p>
          <a:p>
            <a:pPr>
              <a:defRPr sz="1600" b="0">
                <a:latin typeface="Calibri"/>
              </a:defRPr>
            </a:pPr>
            <a:r>
              <a:t>[1] WMO Guide to Instruments &amp; Methods of Observation (WMO-No. 8)</a:t>
            </a:r>
          </a:p>
          <a:p>
            <a:pPr>
              <a:defRPr sz="1600" b="0">
                <a:latin typeface="Calibri"/>
              </a:defRPr>
            </a:pPr>
            <a:r>
              <a:t>[2] Zhao et al., 'MTAD-GAT: Multivariate Time-series Anomaly Detection</a:t>
            </a:r>
          </a:p>
          <a:p>
            <a:pPr>
              <a:defRPr sz="1600" b="0">
                <a:latin typeface="Calibri"/>
              </a:defRPr>
            </a:pPr>
            <a:r>
              <a:t>     via Graph Attention Network', ICDM 2020</a:t>
            </a:r>
          </a:p>
          <a:p>
            <a:pPr>
              <a:defRPr sz="1600" b="0">
                <a:latin typeface="Calibri"/>
              </a:defRPr>
            </a:pPr>
            <a:r>
              <a:t>[3] Hundman et al., 'Detecting Spacecraft Anomalies Using LSTMs and</a:t>
            </a:r>
          </a:p>
          <a:p>
            <a:pPr>
              <a:defRPr sz="1600" b="0">
                <a:latin typeface="Calibri"/>
              </a:defRPr>
            </a:pPr>
            <a:r>
              <a:t>     Nonparametric Dynamic Thresholding', KDD 2018</a:t>
            </a:r>
          </a:p>
          <a:p>
            <a:pPr>
              <a:defRPr sz="1600" b="0">
                <a:latin typeface="Calibri"/>
              </a:defRPr>
            </a:pPr>
            <a:r>
              <a:t>[4] Jena Climate Dataset, Max Planck Institute for Biogeochemistry</a:t>
            </a:r>
          </a:p>
          <a:p>
            <a:pPr>
              <a:defRPr sz="1600" b="0">
                <a:latin typeface="Calibri"/>
              </a:defRPr>
            </a:pPr>
            <a:r>
              <a:t>[5] Bosch BMP280 Datasheet (BST-BMP280-DS001)</a:t>
            </a:r>
          </a:p>
          <a:p>
            <a:pPr>
              <a:defRPr sz="1600" b="0">
                <a:latin typeface="Calibri"/>
              </a:defRPr>
            </a:pPr>
            <a:r>
              <a:t>[6] Aosong DHT22/AM2302 Datasheet</a:t>
            </a:r>
          </a:p>
          <a:p>
            <a:pPr>
              <a:defRPr sz="1600" b="0">
                <a:latin typeface="Calibri"/>
              </a:defRPr>
            </a:pPr>
            <a:r>
              <a:t>[7] MQTT v3.1.1 Standard (ISO/IEC 20922:2016)</a:t>
            </a:r>
          </a:p>
          <a:p>
            <a:pPr>
              <a:defRPr sz="1600" b="0">
                <a:latin typeface="Calibri"/>
              </a:defRPr>
            </a:pPr>
            <a:r>
              <a:t>[8] Lundberg &amp; Lee, 'SHAP: Unified Approach to Interpreting</a:t>
            </a:r>
          </a:p>
          <a:p>
            <a:pPr>
              <a:defRPr sz="1600" b="0">
                <a:latin typeface="Calibri"/>
              </a:defRPr>
            </a:pPr>
            <a:r>
              <a:t>     Model Predictions', NeurIPS 2017</a:t>
            </a:r>
          </a:p>
          <a:p>
            <a:pPr>
              <a:defRPr sz="800" b="0">
                <a:latin typeface="Calibri"/>
              </a:defRPr>
            </a:pPr>
          </a:p>
          <a:p>
            <a:pPr>
              <a:defRPr sz="1600" b="1">
                <a:latin typeface="Calibri"/>
              </a:defRPr>
            </a:pPr>
            <a:r>
              <a:t>Prototype: ML models trained, dashboard working. GitHub: [Your URL]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